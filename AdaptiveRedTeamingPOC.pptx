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"/>
          <p:cNvSpPr/>
          <p:nvPr/>
        </p:nvSpPr>
        <p:spPr>
          <a:xfrm>
            <a:off x="502920" y="38404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· TWO DOCUMENTED INCIDENTS</a:t>
            </a:r>
          </a:p>
        </p:txBody>
      </p:sp>
      <p:sp>
        <p:nvSpPr>
          <p:cNvPr id="3" name="Text"/>
          <p:cNvSpPr/>
          <p:nvPr/>
        </p:nvSpPr>
        <p:spPr>
          <a:xfrm>
            <a:off x="502920" y="720000"/>
            <a:ext cx="1115568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"/>
              </a:lnSpc>
              <a:buNone/>
            </a:pPr>
            <a:r>
              <a:rPr lang="en-US" sz="2400" b="1" spc="0" kern="0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agent incidents that deployed guardrails did not stop</a:t>
            </a:r>
          </a:p>
        </p:txBody>
      </p:sp>
      <p:sp>
        <p:nvSpPr>
          <p:cNvPr id="4" name="Text"/>
          <p:cNvSpPr/>
          <p:nvPr/>
        </p:nvSpPr>
        <p:spPr>
          <a:xfrm>
            <a:off x="502920" y="1340000"/>
            <a:ext cx="98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systems had guardrails in place. Both were bypassed through adaptive, multi-turn interaction rather than a single prompt.</a:t>
            </a:r>
          </a:p>
        </p:txBody>
      </p:sp>
      <p:sp>
        <p:nvSpPr>
          <p:cNvPr id="5" name="Card"/>
          <p:cNvSpPr/>
          <p:nvPr/>
        </p:nvSpPr>
        <p:spPr>
          <a:xfrm>
            <a:off x="502920" y="1700000"/>
            <a:ext cx="5440680" cy="270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26000"/>
              </a:srgbClr>
            </a:outerShdw>
          </a:effectLst>
        </p:spPr>
      </p:sp>
      <p:sp>
        <p:nvSpPr>
          <p:cNvPr id="6" name="Card"/>
          <p:cNvSpPr/>
          <p:nvPr/>
        </p:nvSpPr>
        <p:spPr>
          <a:xfrm>
            <a:off x="6220800" y="1700000"/>
            <a:ext cx="5437800" cy="2700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26000"/>
              </a:srgbClr>
            </a:outerShdw>
          </a:effectLst>
        </p:spPr>
      </p:sp>
      <p:sp>
        <p:nvSpPr>
          <p:cNvPr id="7" name="Dot"/>
          <p:cNvSpPr/>
          <p:nvPr/>
        </p:nvSpPr>
        <p:spPr>
          <a:xfrm>
            <a:off x="822960" y="2000000"/>
            <a:ext cx="329184" cy="329184"/>
          </a:xfrm>
          <a:prstGeom prst="ellipse">
            <a:avLst/>
          </a:prstGeom>
          <a:solidFill>
            <a:srgbClr val="9E2B25"/>
          </a:solidFill>
          <a:ln/>
        </p:spPr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073152"/>
            <a:ext cx="182880" cy="182880"/>
          </a:xfrm>
          <a:prstGeom prst="rect">
            <a:avLst/>
          </a:prstGeom>
        </p:spPr>
      </p:pic>
      <p:sp>
        <p:nvSpPr>
          <p:cNvPr id="9" name="Text"/>
          <p:cNvSpPr/>
          <p:nvPr/>
        </p:nvSpPr>
        <p:spPr>
          <a:xfrm>
            <a:off x="1243584" y="2000000"/>
            <a:ext cx="4379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FREYSA · NOVEMBER 2024</a:t>
            </a:r>
          </a:p>
        </p:txBody>
      </p:sp>
      <p:sp>
        <p:nvSpPr>
          <p:cNvPr id="10" name="Text"/>
          <p:cNvSpPr/>
          <p:nvPr/>
        </p:nvSpPr>
        <p:spPr>
          <a:xfrm>
            <a:off x="822960" y="2420000"/>
            <a:ext cx="48006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released its own funds</a:t>
            </a:r>
          </a:p>
        </p:txBody>
      </p:sp>
      <p:sp>
        <p:nvSpPr>
          <p:cNvPr id="11" name="Text"/>
          <p:cNvSpPr/>
          <p:nvPr/>
        </p:nvSpPr>
        <p:spPr>
          <a:xfrm>
            <a:off x="822960" y="2860000"/>
            <a:ext cx="48006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$47,000</a:t>
            </a:r>
          </a:p>
        </p:txBody>
      </p:sp>
      <p:sp>
        <p:nvSpPr>
          <p:cNvPr id="12" name="Text"/>
          <p:cNvSpPr/>
          <p:nvPr/>
        </p:nvSpPr>
        <p:spPr>
          <a:xfrm>
            <a:off x="822960" y="3330000"/>
            <a:ext cx="4800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out · 481 earlier attempts refused</a:t>
            </a:r>
          </a:p>
        </p:txBody>
      </p:sp>
      <p:sp>
        <p:nvSpPr>
          <p:cNvPr id="13" name="Text"/>
          <p:cNvSpPr/>
          <p:nvPr/>
        </p:nvSpPr>
        <p:spPr>
          <a:xfrm>
            <a:off x="822960" y="3660000"/>
            <a:ext cx="4800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"/>
              </a:lnSpc>
              <a:buNone/>
            </a:pPr>
            <a:r>
              <a:rPr lang="en-US" sz="105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one rule was never to transfer funds. Message 482 posed as an admin session and redefined the approveTransfer tool as an incoming payment.</a:t>
            </a:r>
          </a:p>
        </p:txBody>
      </p:sp>
      <p:sp>
        <p:nvSpPr>
          <p:cNvPr id="14" name="Dot"/>
          <p:cNvSpPr/>
          <p:nvPr/>
        </p:nvSpPr>
        <p:spPr>
          <a:xfrm>
            <a:off x="6540840" y="2000000"/>
            <a:ext cx="329184" cy="329184"/>
          </a:xfrm>
          <a:prstGeom prst="ellipse">
            <a:avLst/>
          </a:prstGeom>
          <a:solidFill>
            <a:srgbClr val="9E2B25"/>
          </a:solidFill>
          <a:ln/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992" y="2073152"/>
            <a:ext cx="182880" cy="182880"/>
          </a:xfrm>
          <a:prstGeom prst="rect">
            <a:avLst/>
          </a:prstGeom>
        </p:spPr>
      </p:pic>
      <p:sp>
        <p:nvSpPr>
          <p:cNvPr id="16" name="Text"/>
          <p:cNvSpPr/>
          <p:nvPr/>
        </p:nvSpPr>
        <p:spPr>
          <a:xfrm>
            <a:off x="6961464" y="2000000"/>
            <a:ext cx="43770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2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CVE-2025-32711 · 2025</a:t>
            </a:r>
          </a:p>
        </p:txBody>
      </p:sp>
      <p:sp>
        <p:nvSpPr>
          <p:cNvPr id="17" name="Text"/>
          <p:cNvSpPr/>
          <p:nvPr/>
        </p:nvSpPr>
        <p:spPr>
          <a:xfrm>
            <a:off x="6540840" y="2420000"/>
            <a:ext cx="479772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Zero-click data exfiltration</a:t>
            </a:r>
          </a:p>
        </p:txBody>
      </p:sp>
      <p:sp>
        <p:nvSpPr>
          <p:cNvPr id="18" name="Text"/>
          <p:cNvSpPr/>
          <p:nvPr/>
        </p:nvSpPr>
        <p:spPr>
          <a:xfrm>
            <a:off x="6540840" y="2860000"/>
            <a:ext cx="479772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</a:t>
            </a:r>
          </a:p>
        </p:txBody>
      </p:sp>
      <p:sp>
        <p:nvSpPr>
          <p:cNvPr id="19" name="Text"/>
          <p:cNvSpPr/>
          <p:nvPr/>
        </p:nvSpPr>
        <p:spPr>
          <a:xfrm>
            <a:off x="6540840" y="3330000"/>
            <a:ext cx="47977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CVSS critical · no user interaction needed</a:t>
            </a:r>
          </a:p>
        </p:txBody>
      </p:sp>
      <p:sp>
        <p:nvSpPr>
          <p:cNvPr id="20" name="Text"/>
          <p:cNvSpPr/>
          <p:nvPr/>
        </p:nvSpPr>
        <p:spPr>
          <a:xfrm>
            <a:off x="6540840" y="3660000"/>
            <a:ext cx="479772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"/>
              </a:lnSpc>
              <a:buNone/>
            </a:pPr>
            <a:r>
              <a:rPr lang="en-US" sz="105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crafted email led Microsoft 365 Copilot to leak internal mail and files, past injection filtering, link redaction and content-security-policy.</a:t>
            </a:r>
          </a:p>
        </p:txBody>
      </p:sp>
      <p:sp>
        <p:nvSpPr>
          <p:cNvPr id="21" name="Band"/>
          <p:cNvSpPr/>
          <p:nvPr/>
        </p:nvSpPr>
        <p:spPr>
          <a:xfrm>
            <a:off x="502920" y="4600000"/>
            <a:ext cx="11155680" cy="125000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22" name="Text"/>
          <p:cNvSpPr/>
          <p:nvPr/>
        </p:nvSpPr>
        <p:spPr>
          <a:xfrm>
            <a:off x="822960" y="4820000"/>
            <a:ext cx="5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5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FOR TESTING</a:t>
            </a:r>
          </a:p>
        </p:txBody>
      </p:sp>
      <p:sp>
        <p:nvSpPr>
          <p:cNvPr id="23" name="Text"/>
          <p:cNvSpPr/>
          <p:nvPr/>
        </p:nvSpPr>
        <p:spPr>
          <a:xfrm>
            <a:off x="822960" y="5090000"/>
            <a:ext cx="50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"/>
              </a:lnSpc>
              <a:buNone/>
            </a:pPr>
            <a:r>
              <a:rPr lang="en-US" sz="1100" b="0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 passed its guardrail checks in isolation. Adaptive, multi-turn attacks still got through — the case static probe suites do not exercise.</a:t>
            </a:r>
          </a:p>
        </p:txBody>
      </p:sp>
      <p:sp>
        <p:nvSpPr>
          <p:cNvPr id="24" name="Rule"/>
          <p:cNvSpPr/>
          <p:nvPr/>
        </p:nvSpPr>
        <p:spPr>
          <a:xfrm>
            <a:off x="6220800" y="4790000"/>
            <a:ext cx="0" cy="880000"/>
          </a:xfrm>
          <a:prstGeom prst="line">
            <a:avLst/>
          </a:prstGeom>
          <a:noFill/>
          <a:ln w="12700">
            <a:solidFill>
              <a:srgbClr val="D8DDE7"/>
            </a:solidFill>
            <a:prstDash val="solid"/>
          </a:ln>
        </p:spPr>
      </p:sp>
      <p:sp>
        <p:nvSpPr>
          <p:cNvPr id="25" name="Text"/>
          <p:cNvSpPr/>
          <p:nvPr/>
        </p:nvSpPr>
        <p:spPr>
          <a:xfrm>
            <a:off x="6540840" y="4830000"/>
            <a:ext cx="21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</a:p>
        </p:txBody>
      </p:sp>
      <p:sp>
        <p:nvSpPr>
          <p:cNvPr id="26" name="Text"/>
          <p:cNvSpPr/>
          <p:nvPr/>
        </p:nvSpPr>
        <p:spPr>
          <a:xfrm>
            <a:off x="6540840" y="5240000"/>
            <a:ext cx="21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"/>
              </a:lnSpc>
              <a:buNone/>
            </a:pPr>
            <a:r>
              <a:rPr lang="en-US" sz="90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Crescendo multi-turn success against single-turn defenses (Microsoft)</a:t>
            </a:r>
          </a:p>
        </p:txBody>
      </p:sp>
      <p:sp>
        <p:nvSpPr>
          <p:cNvPr id="27" name="Text"/>
          <p:cNvSpPr/>
          <p:nvPr/>
        </p:nvSpPr>
        <p:spPr>
          <a:xfrm>
            <a:off x="8940000" y="4830000"/>
            <a:ext cx="24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0" kern="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→ 70%+</a:t>
            </a:r>
          </a:p>
        </p:txBody>
      </p:sp>
      <p:sp>
        <p:nvSpPr>
          <p:cNvPr id="28" name="Text"/>
          <p:cNvSpPr/>
          <p:nvPr/>
        </p:nvSpPr>
        <p:spPr>
          <a:xfrm>
            <a:off x="8940000" y="5240000"/>
            <a:ext cx="24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"/>
              </a:lnSpc>
              <a:buNone/>
            </a:pPr>
            <a:r>
              <a:rPr lang="en-US" sz="900" b="0" spc="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to multi-turn adaptive lift on the same benchmark (Li et al.)</a:t>
            </a:r>
          </a:p>
        </p:txBody>
      </p:sp>
      <p:sp>
        <p:nvSpPr>
          <p:cNvPr id="29" name="Text"/>
          <p:cNvSpPr/>
          <p:nvPr/>
        </p:nvSpPr>
        <p:spPr>
          <a:xfrm>
            <a:off x="502920" y="6053328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0" spc="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Freysa (Nov 2024) · EchoLeak CVE-2025-32711, Aim Security · Crescendo, arXiv:2404.01833 · Li et al. 2024</a:t>
            </a:r>
          </a:p>
        </p:txBody>
      </p:sp>
      <p:sp>
        <p:nvSpPr>
          <p:cNvPr id="30" name="Text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</a:p>
        </p:txBody>
      </p:sp>
      <p:sp>
        <p:nvSpPr>
          <p:cNvPr id="31" name="Text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0" spc="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Static probes catch the known. Agents fail on the unknown.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75688"/>
            <a:ext cx="640080" cy="64008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235708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93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PROBE SCANS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60020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Garak — fixed probe catalogs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4436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Fast, deterministic, repeatable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great CI regression baseline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1985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52728" y="3355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Fixed corpus, mostly single-turn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known jailbreaks &amp; string tricks</a:t>
            </a:r>
            <a:endParaRPr lang="en-US" sz="13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9534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52728" y="38313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Grades the model's text output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model-layer, not agent-layer</a:t>
            </a:r>
            <a:endParaRPr lang="en-US" sz="1350" dirty="0"/>
          </a:p>
        </p:txBody>
      </p:sp>
      <p:sp>
        <p:nvSpPr>
          <p:cNvPr id="15" name="Shape 9"/>
          <p:cNvSpPr/>
          <p:nvPr/>
        </p:nvSpPr>
        <p:spPr>
          <a:xfrm>
            <a:off x="822960" y="4398264"/>
            <a:ext cx="4617720" cy="1170432"/>
          </a:xfrm>
          <a:prstGeom prst="roundRect">
            <a:avLst>
              <a:gd name="adj" fmla="val 7031"/>
            </a:avLst>
          </a:prstGeom>
          <a:solidFill>
            <a:srgbClr val="F6E9E7"/>
          </a:solidFill>
          <a:ln w="12700">
            <a:solidFill>
              <a:srgbClr val="E7CBC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1051560" y="4535424"/>
            <a:ext cx="4251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BLIND SPOTS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adaptation · no tool/trace visibility · misses multi-turn escalation &amp; authorization failures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355080" y="1783080"/>
            <a:ext cx="5257800" cy="3977640"/>
          </a:xfrm>
          <a:prstGeom prst="roundRect">
            <a:avLst>
              <a:gd name="adj" fmla="val 2069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75120" y="2075688"/>
            <a:ext cx="640080" cy="64008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5140" y="2235708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52360" y="209397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7452360" y="238658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improvises against the target</a:t>
            </a:r>
            <a:endParaRPr lang="en-US" sz="12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295351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104888" y="2880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Turn-by-turn improvisation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Crescendo · TAP · RedTeaming</a:t>
            </a:r>
            <a:endParaRPr lang="en-US" sz="1350" dirty="0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3429000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7104888" y="335584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Multi-turn escalation + persuasion framing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gets past turn-1 refusals</a:t>
            </a:r>
            <a:endParaRPr lang="en-US" sz="135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0840" y="3904488"/>
            <a:ext cx="237744" cy="23774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7104888" y="383133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Grades what the agent DOES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tool calls &amp; side effects, via trace</a:t>
            </a:r>
            <a:endParaRPr lang="en-US" sz="1350" dirty="0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4379976"/>
            <a:ext cx="237744" cy="23774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7104888" y="43068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Reaches agentic failure classes  </a:t>
            </a:r>
            <a:pPr indent="0" marL="0">
              <a:buNone/>
            </a:pPr>
            <a:r>
              <a:rPr lang="en-US" sz="13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ASI authz, tool misuse, goal hijack</a:t>
            </a:r>
            <a:endParaRPr lang="en-US" sz="1350" dirty="0"/>
          </a:p>
        </p:txBody>
      </p:sp>
      <p:sp>
        <p:nvSpPr>
          <p:cNvPr id="30" name="Shape 19"/>
          <p:cNvSpPr/>
          <p:nvPr/>
        </p:nvSpPr>
        <p:spPr>
          <a:xfrm>
            <a:off x="502920" y="5943600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6089904"/>
            <a:ext cx="365760" cy="3657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280160" y="5943600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 refusal to say it ≠ a refusal to do it.  </a:t>
            </a:r>
            <a:pPr indent="0" marL="0">
              <a:buNone/>
            </a:pPr>
            <a:r>
              <a:rPr lang="en-US" sz="1450" dirty="0">
                <a:solidFill>
                  <a:srgbClr val="C6C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risk lives in the tool calls and boundary crossings — not the prose a static probe reads.</a:t>
            </a:r>
            <a:endParaRPr lang="en-US" sz="1450" dirty="0"/>
          </a:p>
        </p:txBody>
      </p:sp>
      <p:sp>
        <p:nvSpPr>
          <p:cNvPr id="33" name="Text 21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4" name="Text 2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· 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pieces fit — one adaptive run,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646920" y="502920"/>
            <a:ext cx="2011680" cy="640080"/>
          </a:xfrm>
          <a:prstGeom prst="roundRect">
            <a:avLst>
              <a:gd name="adj" fmla="val 50000"/>
            </a:avLst>
          </a:prstGeom>
          <a:solidFill>
            <a:srgbClr val="9E2B25"/>
          </a:solidFill>
          <a:ln w="12700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64922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0" y="502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2920" y="1600200"/>
            <a:ext cx="11155680" cy="566928"/>
          </a:xfrm>
          <a:prstGeom prst="roundRect">
            <a:avLst>
              <a:gd name="adj" fmla="val 1451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3736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6002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WEB UI · CONFIG  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 ·  Attacker  ·  Grader  ·  Scope (plugins + PyRIT strategy + converter)  ·  App Profile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1965960" y="2167128"/>
            <a:ext cx="0" cy="164592"/>
          </a:xfrm>
          <a:prstGeom prst="line">
            <a:avLst/>
          </a:prstGeom>
          <a:noFill/>
          <a:ln w="19050">
            <a:solidFill>
              <a:srgbClr val="8B95A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2296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1078992" y="2587752"/>
            <a:ext cx="566928" cy="566928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724" y="272948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Orchestrator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93268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AtomicAttack → Scenario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342900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3685032" y="2587752"/>
            <a:ext cx="566928" cy="566928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729484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6616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353872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Dolphin 3.0 8B · vLLM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03504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291072" y="2587752"/>
            <a:ext cx="566928" cy="566928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804" y="2729484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17220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Agent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14476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ADK banking demo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8641080" y="2331720"/>
            <a:ext cx="2331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897112" y="2587752"/>
            <a:ext cx="566928" cy="566928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8844" y="2729484"/>
            <a:ext cx="283464" cy="2834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778240" y="322783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Grader LLM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8750808" y="3465576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Sonnet 4.5 · Stork gw</a:t>
            </a:r>
            <a:endParaRPr lang="en-US" sz="105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968" y="2921508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2852928" y="25831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step</a:t>
            </a:r>
            <a:endParaRPr lang="en-US" sz="95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79008" y="2921508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5458968" y="25831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crafted prompt</a:t>
            </a:r>
            <a:endParaRPr lang="en-US" sz="95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2921508"/>
            <a:ext cx="237744" cy="23774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8065008" y="2583180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5852160" y="4251960"/>
            <a:ext cx="2697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38" name="Shape 27"/>
          <p:cNvSpPr/>
          <p:nvPr/>
        </p:nvSpPr>
        <p:spPr>
          <a:xfrm>
            <a:off x="6016752" y="4434840"/>
            <a:ext cx="475488" cy="475488"/>
          </a:xfrm>
          <a:prstGeom prst="ellipse">
            <a:avLst/>
          </a:prstGeom>
          <a:solidFill>
            <a:srgbClr val="6A5AA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35624" y="4553712"/>
            <a:ext cx="237744" cy="23774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537960" y="4398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Jaeger Tracer</a:t>
            </a:r>
            <a:endParaRPr lang="en-US" sz="1350" dirty="0"/>
          </a:p>
        </p:txBody>
      </p:sp>
      <p:sp>
        <p:nvSpPr>
          <p:cNvPr id="41" name="Text 29"/>
          <p:cNvSpPr/>
          <p:nvPr/>
        </p:nvSpPr>
        <p:spPr>
          <a:xfrm>
            <a:off x="6537960" y="467258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OTel gen_ai.* execution spans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7200900" y="3749040"/>
            <a:ext cx="0" cy="502920"/>
          </a:xfrm>
          <a:prstGeom prst="line">
            <a:avLst/>
          </a:prstGeom>
          <a:noFill/>
          <a:ln w="19050">
            <a:solidFill>
              <a:srgbClr val="8B95A7"/>
            </a:solidFill>
            <a:prstDash val="solid"/>
            <a:tailEnd type="triangle"/>
          </a:ln>
        </p:spPr>
      </p:sp>
      <p:sp>
        <p:nvSpPr>
          <p:cNvPr id="43" name="Text 31"/>
          <p:cNvSpPr/>
          <p:nvPr/>
        </p:nvSpPr>
        <p:spPr>
          <a:xfrm>
            <a:off x="7246620" y="37947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emits trace</a:t>
            </a:r>
            <a:endParaRPr lang="en-US" sz="950" dirty="0"/>
          </a:p>
        </p:txBody>
      </p:sp>
      <p:sp>
        <p:nvSpPr>
          <p:cNvPr id="44" name="Shape 32"/>
          <p:cNvSpPr/>
          <p:nvPr/>
        </p:nvSpPr>
        <p:spPr>
          <a:xfrm>
            <a:off x="8549640" y="4672584"/>
            <a:ext cx="960120" cy="0"/>
          </a:xfrm>
          <a:prstGeom prst="line">
            <a:avLst/>
          </a:prstGeom>
          <a:noFill/>
          <a:ln w="19050">
            <a:solidFill>
              <a:srgbClr val="9E2B25"/>
            </a:solidFill>
            <a:prstDash val="dash"/>
            <a:tailEnd type="triangle"/>
          </a:ln>
        </p:spPr>
      </p:sp>
      <p:sp>
        <p:nvSpPr>
          <p:cNvPr id="45" name="Text 33"/>
          <p:cNvSpPr/>
          <p:nvPr/>
        </p:nvSpPr>
        <p:spPr>
          <a:xfrm>
            <a:off x="8595360" y="43616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950" dirty="0"/>
          </a:p>
        </p:txBody>
      </p:sp>
      <p:sp>
        <p:nvSpPr>
          <p:cNvPr id="46" name="Shape 34"/>
          <p:cNvSpPr/>
          <p:nvPr/>
        </p:nvSpPr>
        <p:spPr>
          <a:xfrm>
            <a:off x="9806940" y="3749040"/>
            <a:ext cx="0" cy="173736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47" name="Shape 35"/>
          <p:cNvSpPr/>
          <p:nvPr/>
        </p:nvSpPr>
        <p:spPr>
          <a:xfrm>
            <a:off x="1988820" y="5486400"/>
            <a:ext cx="7818120" cy="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</a:ln>
        </p:spPr>
      </p:sp>
      <p:sp>
        <p:nvSpPr>
          <p:cNvPr id="48" name="Shape 36"/>
          <p:cNvSpPr/>
          <p:nvPr/>
        </p:nvSpPr>
        <p:spPr>
          <a:xfrm>
            <a:off x="1988820" y="3749954"/>
            <a:ext cx="0" cy="1737360"/>
          </a:xfrm>
          <a:prstGeom prst="line">
            <a:avLst/>
          </a:prstGeom>
          <a:noFill/>
          <a:ln w="22225">
            <a:solidFill>
              <a:srgbClr val="9E2B25"/>
            </a:solidFill>
            <a:prstDash val="solid"/>
            <a:tailEnd type="triangle"/>
          </a:ln>
        </p:spPr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33288" y="5102352"/>
            <a:ext cx="329184" cy="329184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1988820" y="5541264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i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 feeds the next turn — the adaptive loop</a:t>
            </a:r>
            <a:endParaRPr lang="en-US" sz="1250" dirty="0"/>
          </a:p>
        </p:txBody>
      </p:sp>
      <p:sp>
        <p:nvSpPr>
          <p:cNvPr id="51" name="Text 38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2" name="Text 39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CORPUS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Promptfoo taxonomy to a graded, PyRIT-ready catalog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865376"/>
            <a:ext cx="438912" cy="438912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97510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6152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taxonomy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216152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157 plugins scraped &amp; verified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197053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01568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584448" y="1865376"/>
            <a:ext cx="438912" cy="438912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4176" y="1975104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114800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each row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114800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seed · rubric · signals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970532"/>
            <a:ext cx="219456" cy="219456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300216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483096" y="1865376"/>
            <a:ext cx="438912" cy="438912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824" y="1975104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013448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to PyRIT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7013448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 + polarity adapter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197053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9198864" y="1645920"/>
            <a:ext cx="25146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9381744" y="1865376"/>
            <a:ext cx="438912" cy="438912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91472" y="1975104"/>
            <a:ext cx="219456" cy="21945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912096" y="179222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1300" dirty="0"/>
          </a:p>
        </p:txBody>
      </p:sp>
      <p:sp>
        <p:nvSpPr>
          <p:cNvPr id="26" name="Text 17"/>
          <p:cNvSpPr/>
          <p:nvPr/>
        </p:nvSpPr>
        <p:spPr>
          <a:xfrm>
            <a:off x="9912096" y="206654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corpus for every run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02920" y="274320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rows — the enrichment columns that make a plugin runnable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502920" y="3127248"/>
            <a:ext cx="1691640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29" name="Text 20"/>
          <p:cNvSpPr/>
          <p:nvPr/>
        </p:nvSpPr>
        <p:spPr>
          <a:xfrm>
            <a:off x="594360" y="31272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2194560" y="3127248"/>
            <a:ext cx="566928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1" name="Text 22"/>
          <p:cNvSpPr/>
          <p:nvPr/>
        </p:nvSpPr>
        <p:spPr>
          <a:xfrm>
            <a:off x="2286000" y="3127248"/>
            <a:ext cx="4297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2761488" y="3127248"/>
            <a:ext cx="4892040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3" name="Text 24"/>
          <p:cNvSpPr/>
          <p:nvPr/>
        </p:nvSpPr>
        <p:spPr>
          <a:xfrm>
            <a:off x="2852928" y="3127248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seed (attacker terminal state)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7653528" y="3127248"/>
            <a:ext cx="1051560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5" name="Text 26"/>
          <p:cNvSpPr/>
          <p:nvPr/>
        </p:nvSpPr>
        <p:spPr>
          <a:xfrm>
            <a:off x="7744968" y="312724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8705088" y="3127248"/>
            <a:ext cx="2999232" cy="402336"/>
          </a:xfrm>
          <a:prstGeom prst="rect">
            <a:avLst/>
          </a:prstGeom>
          <a:solidFill>
            <a:srgbClr val="2A3550"/>
          </a:solidFill>
          <a:ln/>
        </p:spPr>
      </p:sp>
      <p:sp>
        <p:nvSpPr>
          <p:cNvPr id="37" name="Text 28"/>
          <p:cNvSpPr/>
          <p:nvPr/>
        </p:nvSpPr>
        <p:spPr>
          <a:xfrm>
            <a:off x="8796528" y="3127248"/>
            <a:ext cx="28620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PyRIT scorer / polarity</a:t>
            </a:r>
            <a:endParaRPr lang="en-US" sz="1150" dirty="0"/>
          </a:p>
        </p:txBody>
      </p:sp>
      <p:sp>
        <p:nvSpPr>
          <p:cNvPr id="38" name="Shape 29"/>
          <p:cNvSpPr/>
          <p:nvPr/>
        </p:nvSpPr>
        <p:spPr>
          <a:xfrm>
            <a:off x="502920" y="3529584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594360" y="3529584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bola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2194560" y="3529584"/>
            <a:ext cx="5669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2194560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42" name="Shape 33"/>
          <p:cNvSpPr/>
          <p:nvPr/>
        </p:nvSpPr>
        <p:spPr>
          <a:xfrm>
            <a:off x="2761488" y="3529584"/>
            <a:ext cx="4892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2852928" y="3529584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another principal's object across an authz boundary — evidenced by the tool call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7653528" y="3529584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7653528" y="3529584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46" name="Shape 37"/>
          <p:cNvSpPr/>
          <p:nvPr/>
        </p:nvSpPr>
        <p:spPr>
          <a:xfrm>
            <a:off x="8705088" y="3529584"/>
            <a:ext cx="29992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8796528" y="3529584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SelfAskTrueFalse → TrueFalseInverter</a:t>
            </a:r>
            <a:endParaRPr lang="en-US" sz="950" dirty="0"/>
          </a:p>
        </p:txBody>
      </p:sp>
      <p:sp>
        <p:nvSpPr>
          <p:cNvPr id="48" name="Shape 39"/>
          <p:cNvSpPr/>
          <p:nvPr/>
        </p:nvSpPr>
        <p:spPr>
          <a:xfrm>
            <a:off x="502920" y="4096512"/>
            <a:ext cx="16916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594360" y="4096512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prompt-extraction</a:t>
            </a:r>
            <a:endParaRPr lang="en-US" sz="1050" dirty="0"/>
          </a:p>
        </p:txBody>
      </p:sp>
      <p:sp>
        <p:nvSpPr>
          <p:cNvPr id="50" name="Shape 41"/>
          <p:cNvSpPr/>
          <p:nvPr/>
        </p:nvSpPr>
        <p:spPr>
          <a:xfrm>
            <a:off x="2194560" y="4096512"/>
            <a:ext cx="566928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219456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2761488" y="4096512"/>
            <a:ext cx="48920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3" name="Text 44"/>
          <p:cNvSpPr/>
          <p:nvPr/>
        </p:nvSpPr>
        <p:spPr>
          <a:xfrm>
            <a:off x="2852928" y="4096512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target disclose its actual system instructions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7653528" y="4096512"/>
            <a:ext cx="105156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7653528" y="4096512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56" name="Shape 47"/>
          <p:cNvSpPr/>
          <p:nvPr/>
        </p:nvSpPr>
        <p:spPr>
          <a:xfrm>
            <a:off x="8705088" y="4096512"/>
            <a:ext cx="2999232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8796528" y="4096512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SubString / SelfAsk on canary</a:t>
            </a:r>
            <a:endParaRPr lang="en-US" sz="950" dirty="0"/>
          </a:p>
        </p:txBody>
      </p:sp>
      <p:sp>
        <p:nvSpPr>
          <p:cNvPr id="58" name="Shape 49"/>
          <p:cNvSpPr/>
          <p:nvPr/>
        </p:nvSpPr>
        <p:spPr>
          <a:xfrm>
            <a:off x="502920" y="4663440"/>
            <a:ext cx="1691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594360" y="46634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harmful:self-harm</a:t>
            </a:r>
            <a:endParaRPr lang="en-US" sz="1050" dirty="0"/>
          </a:p>
        </p:txBody>
      </p:sp>
      <p:sp>
        <p:nvSpPr>
          <p:cNvPr id="60" name="Shape 51"/>
          <p:cNvSpPr/>
          <p:nvPr/>
        </p:nvSpPr>
        <p:spPr>
          <a:xfrm>
            <a:off x="2194560" y="4663440"/>
            <a:ext cx="566928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2194560" y="4663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2761488" y="4663440"/>
            <a:ext cx="48920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3" name="Text 54"/>
          <p:cNvSpPr/>
          <p:nvPr/>
        </p:nvSpPr>
        <p:spPr>
          <a:xfrm>
            <a:off x="2852928" y="466344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Elicit operational, actionable real-world content (not fiction)</a:t>
            </a:r>
            <a:endParaRPr lang="en-US" sz="1100" dirty="0"/>
          </a:p>
        </p:txBody>
      </p:sp>
      <p:sp>
        <p:nvSpPr>
          <p:cNvPr id="64" name="Shape 55"/>
          <p:cNvSpPr/>
          <p:nvPr/>
        </p:nvSpPr>
        <p:spPr>
          <a:xfrm>
            <a:off x="7653528" y="4663440"/>
            <a:ext cx="10515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5" name="Text 56"/>
          <p:cNvSpPr/>
          <p:nvPr/>
        </p:nvSpPr>
        <p:spPr>
          <a:xfrm>
            <a:off x="7653528" y="46634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C8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66" name="Shape 57"/>
          <p:cNvSpPr/>
          <p:nvPr/>
        </p:nvSpPr>
        <p:spPr>
          <a:xfrm>
            <a:off x="8705088" y="4663440"/>
            <a:ext cx="299923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7" name="Text 58"/>
          <p:cNvSpPr/>
          <p:nvPr/>
        </p:nvSpPr>
        <p:spPr>
          <a:xfrm>
            <a:off x="8796528" y="4663440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Refusal gate → Scale → threshold</a:t>
            </a:r>
            <a:endParaRPr lang="en-US" sz="950" dirty="0"/>
          </a:p>
        </p:txBody>
      </p:sp>
      <p:sp>
        <p:nvSpPr>
          <p:cNvPr id="68" name="Shape 59"/>
          <p:cNvSpPr/>
          <p:nvPr/>
        </p:nvSpPr>
        <p:spPr>
          <a:xfrm>
            <a:off x="502920" y="5230368"/>
            <a:ext cx="16916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69" name="Text 60"/>
          <p:cNvSpPr/>
          <p:nvPr/>
        </p:nvSpPr>
        <p:spPr>
          <a:xfrm>
            <a:off x="594360" y="5230368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excessive-agency</a:t>
            </a:r>
            <a:endParaRPr lang="en-US" sz="1050" dirty="0"/>
          </a:p>
        </p:txBody>
      </p:sp>
      <p:sp>
        <p:nvSpPr>
          <p:cNvPr id="70" name="Shape 61"/>
          <p:cNvSpPr/>
          <p:nvPr/>
        </p:nvSpPr>
        <p:spPr>
          <a:xfrm>
            <a:off x="2194560" y="5230368"/>
            <a:ext cx="566928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1" name="Text 62"/>
          <p:cNvSpPr/>
          <p:nvPr/>
        </p:nvSpPr>
        <p:spPr>
          <a:xfrm>
            <a:off x="2194560" y="5230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72" name="Shape 63"/>
          <p:cNvSpPr/>
          <p:nvPr/>
        </p:nvSpPr>
        <p:spPr>
          <a:xfrm>
            <a:off x="2761488" y="5230368"/>
            <a:ext cx="489204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3" name="Text 64"/>
          <p:cNvSpPr/>
          <p:nvPr/>
        </p:nvSpPr>
        <p:spPr>
          <a:xfrm>
            <a:off x="2852928" y="5230368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tool outside the caller's allowed set or past a cap</a:t>
            </a:r>
            <a:endParaRPr lang="en-US" sz="1100" dirty="0"/>
          </a:p>
        </p:txBody>
      </p:sp>
      <p:sp>
        <p:nvSpPr>
          <p:cNvPr id="74" name="Shape 65"/>
          <p:cNvSpPr/>
          <p:nvPr/>
        </p:nvSpPr>
        <p:spPr>
          <a:xfrm>
            <a:off x="7653528" y="5230368"/>
            <a:ext cx="1051560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5" name="Text 66"/>
          <p:cNvSpPr/>
          <p:nvPr/>
        </p:nvSpPr>
        <p:spPr>
          <a:xfrm>
            <a:off x="7653528" y="523036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</a:t>
            </a:r>
            <a:endParaRPr lang="en-US" sz="1100" dirty="0"/>
          </a:p>
        </p:txBody>
      </p:sp>
      <p:sp>
        <p:nvSpPr>
          <p:cNvPr id="76" name="Shape 67"/>
          <p:cNvSpPr/>
          <p:nvPr/>
        </p:nvSpPr>
        <p:spPr>
          <a:xfrm>
            <a:off x="8705088" y="5230368"/>
            <a:ext cx="2999232" cy="566928"/>
          </a:xfrm>
          <a:prstGeom prst="rect">
            <a:avLst/>
          </a:prstGeom>
          <a:solidFill>
            <a:srgbClr val="EEF1F6"/>
          </a:solidFill>
          <a:ln w="6350">
            <a:solidFill>
              <a:srgbClr val="E4E8EF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8796528" y="5230368"/>
            <a:ext cx="2862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Trajectory / tool-invocation check</a:t>
            </a:r>
            <a:endParaRPr lang="en-US" sz="950" dirty="0"/>
          </a:p>
        </p:txBody>
      </p:sp>
      <p:sp>
        <p:nvSpPr>
          <p:cNvPr id="78" name="Shape 69"/>
          <p:cNvSpPr/>
          <p:nvPr/>
        </p:nvSpPr>
        <p:spPr>
          <a:xfrm>
            <a:off x="502920" y="5998464"/>
            <a:ext cx="11155680" cy="603504"/>
          </a:xfrm>
          <a:prstGeom prst="roundRect">
            <a:avLst>
              <a:gd name="adj" fmla="val 13636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pic>
        <p:nvPicPr>
          <p:cNvPr id="7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6153912"/>
            <a:ext cx="310896" cy="310896"/>
          </a:xfrm>
          <a:prstGeom prst="rect">
            <a:avLst/>
          </a:prstGeom>
        </p:spPr>
      </p:pic>
      <p:sp>
        <p:nvSpPr>
          <p:cNvPr id="80" name="Text 70"/>
          <p:cNvSpPr/>
          <p:nvPr/>
        </p:nvSpPr>
        <p:spPr>
          <a:xfrm>
            <a:off x="1234440" y="5998464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Two consumption modes: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Text-layer graders read the prose (P1/P2); Trace-layer graders resolve tool calls &amp; ownership (P3/P4).  </a:t>
            </a:r>
            <a:pPr indent="0" marL="0">
              <a:buNone/>
            </a:pPr>
            <a:r>
              <a:rPr lang="en-US" sz="12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Promptfoo pass=safe is inverted to PyRIT true=violation.</a:t>
            </a:r>
            <a:endParaRPr lang="en-US" sz="1250" dirty="0"/>
          </a:p>
        </p:txBody>
      </p:sp>
      <p:sp>
        <p:nvSpPr>
          <p:cNvPr id="81" name="Text 71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82" name="Text 7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PyRIT strategies — one fork decides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794760" cy="4846320"/>
          </a:xfrm>
          <a:prstGeom prst="roundRect">
            <a:avLst>
              <a:gd name="adj" fmla="val 216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BUILDING BLOCKS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496312"/>
            <a:ext cx="457200" cy="45720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610612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4597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Objective target   </a:t>
            </a:r>
            <a:pPr indent="0" marL="0">
              <a:buNone/>
            </a:pPr>
            <a:r>
              <a:rPr lang="en-US" sz="1000" i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73405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under test — your gateway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3209544"/>
            <a:ext cx="457200" cy="45720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3323844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31729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Adversarial chat   </a:t>
            </a:r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only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417320" y="344728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LLM that writes the attacks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22960" y="3922776"/>
            <a:ext cx="457200" cy="457200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4037076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886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Scorer   </a:t>
            </a:r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1417320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auto-judge: success? refusal?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22960" y="4636008"/>
            <a:ext cx="457200" cy="457200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750308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417320" y="45994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Converter   </a:t>
            </a:r>
            <a:pPr indent="0" marL="0"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1417320" y="487375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the prompt before send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777240" y="5367528"/>
            <a:ext cx="3246120" cy="914400"/>
          </a:xfrm>
          <a:prstGeom prst="roundRect">
            <a:avLst>
              <a:gd name="adj" fmla="val 9000"/>
            </a:avLst>
          </a:prstGeom>
          <a:solidFill>
            <a:srgbClr val="F6E9E7"/>
          </a:solidFill>
          <a:ln w="12700">
            <a:solidFill>
              <a:srgbClr val="9E2B25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56869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63040" y="539496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“Do I need an attacker LLM?”  </a:t>
            </a:r>
            <a:pPr indent="0" marL="0">
              <a:buNone/>
            </a:pPr>
            <a:r>
              <a:rPr lang="en-US" sz="11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whether you must pass an adversarial config — the #1 reason a first script fails.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4526280" y="1783080"/>
            <a:ext cx="2392680" cy="3063240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6" name="Text 19"/>
          <p:cNvSpPr/>
          <p:nvPr/>
        </p:nvSpPr>
        <p:spPr>
          <a:xfrm>
            <a:off x="4782312" y="200253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· STATIC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4782312" y="227685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attacker LLM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4782312" y="267919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PromptSending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782312" y="289864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baseline — direct + converters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4782312" y="318211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FlipAttack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782312" y="340156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surface string filters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4782312" y="368503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ManyShot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4782312" y="390448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in-context safety decay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4782312" y="418795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SkeletonKey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4782312" y="440740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preamble baseline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147560" y="1783080"/>
            <a:ext cx="2392680" cy="3063240"/>
          </a:xfrm>
          <a:prstGeom prst="roundRect">
            <a:avLst>
              <a:gd name="adj" fmla="val 3439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37" name="Text 30"/>
          <p:cNvSpPr/>
          <p:nvPr/>
        </p:nvSpPr>
        <p:spPr>
          <a:xfrm>
            <a:off x="7403592" y="200253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· ADAPTIVE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403592" y="227685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required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7403592" y="267919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ContextCompliance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7403592" y="289864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fabricates prior turns</a:t>
            </a:r>
            <a:endParaRPr lang="en-US" sz="950" dirty="0"/>
          </a:p>
        </p:txBody>
      </p:sp>
      <p:sp>
        <p:nvSpPr>
          <p:cNvPr id="41" name="Text 34"/>
          <p:cNvSpPr/>
          <p:nvPr/>
        </p:nvSpPr>
        <p:spPr>
          <a:xfrm>
            <a:off x="7403592" y="318211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RolePlay</a:t>
            </a:r>
            <a:endParaRPr lang="en-US" sz="1100" dirty="0"/>
          </a:p>
        </p:txBody>
      </p:sp>
      <p:sp>
        <p:nvSpPr>
          <p:cNvPr id="42" name="Text 35"/>
          <p:cNvSpPr/>
          <p:nvPr/>
        </p:nvSpPr>
        <p:spPr>
          <a:xfrm>
            <a:off x="7403592" y="340156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/ scenario reframe</a:t>
            </a:r>
            <a:endParaRPr lang="en-US" sz="950" dirty="0"/>
          </a:p>
        </p:txBody>
      </p:sp>
      <p:sp>
        <p:nvSpPr>
          <p:cNvPr id="43" name="Text 36"/>
          <p:cNvSpPr/>
          <p:nvPr/>
        </p:nvSpPr>
        <p:spPr>
          <a:xfrm>
            <a:off x="7403592" y="4023360"/>
            <a:ext cx="1935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Framing-based refusal bypass — without paying for a full multi-turn loop.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9768840" y="1783080"/>
            <a:ext cx="2392680" cy="3063240"/>
          </a:xfrm>
          <a:prstGeom prst="roundRect">
            <a:avLst>
              <a:gd name="adj" fmla="val 3439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10024872" y="200253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· ADAPTIVE</a:t>
            </a:r>
            <a:endParaRPr lang="en-US" sz="1300" dirty="0"/>
          </a:p>
        </p:txBody>
      </p:sp>
      <p:sp>
        <p:nvSpPr>
          <p:cNvPr id="46" name="Text 39"/>
          <p:cNvSpPr/>
          <p:nvPr/>
        </p:nvSpPr>
        <p:spPr>
          <a:xfrm>
            <a:off x="10024872" y="2276856"/>
            <a:ext cx="193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required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10024872" y="267919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RedTeaming</a:t>
            </a:r>
            <a:endParaRPr lang="en-US" sz="1100" dirty="0"/>
          </a:p>
        </p:txBody>
      </p:sp>
      <p:sp>
        <p:nvSpPr>
          <p:cNvPr id="48" name="Text 41"/>
          <p:cNvSpPr/>
          <p:nvPr/>
        </p:nvSpPr>
        <p:spPr>
          <a:xfrm>
            <a:off x="10024872" y="289864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goal-directed loop</a:t>
            </a:r>
            <a:endParaRPr lang="en-US" sz="950" dirty="0"/>
          </a:p>
        </p:txBody>
      </p:sp>
      <p:sp>
        <p:nvSpPr>
          <p:cNvPr id="49" name="Text 42"/>
          <p:cNvSpPr/>
          <p:nvPr/>
        </p:nvSpPr>
        <p:spPr>
          <a:xfrm>
            <a:off x="10024872" y="318211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Crescendo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10024872" y="340156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escalate + backtrack</a:t>
            </a:r>
            <a:endParaRPr lang="en-US" sz="950" dirty="0"/>
          </a:p>
        </p:txBody>
      </p:sp>
      <p:sp>
        <p:nvSpPr>
          <p:cNvPr id="51" name="Text 44"/>
          <p:cNvSpPr/>
          <p:nvPr/>
        </p:nvSpPr>
        <p:spPr>
          <a:xfrm>
            <a:off x="10024872" y="368503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E2B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TAP</a:t>
            </a:r>
            <a:endParaRPr lang="en-US" sz="1100" dirty="0"/>
          </a:p>
        </p:txBody>
      </p:sp>
      <p:sp>
        <p:nvSpPr>
          <p:cNvPr id="52" name="Text 45"/>
          <p:cNvSpPr/>
          <p:nvPr/>
        </p:nvSpPr>
        <p:spPr>
          <a:xfrm>
            <a:off x="10024872" y="390448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search, prune weak paths</a:t>
            </a:r>
            <a:endParaRPr lang="en-US" sz="950" dirty="0"/>
          </a:p>
        </p:txBody>
      </p:sp>
      <p:sp>
        <p:nvSpPr>
          <p:cNvPr id="53" name="Text 46"/>
          <p:cNvSpPr/>
          <p:nvPr/>
        </p:nvSpPr>
        <p:spPr>
          <a:xfrm>
            <a:off x="10024872" y="4187952"/>
            <a:ext cx="1935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10024872" y="4407408"/>
            <a:ext cx="1935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lighter iterative refinement</a:t>
            </a:r>
            <a:endParaRPr lang="en-US" sz="950" dirty="0"/>
          </a:p>
        </p:txBody>
      </p:sp>
      <p:sp>
        <p:nvSpPr>
          <p:cNvPr id="55" name="Shape 48"/>
          <p:cNvSpPr/>
          <p:nvPr/>
        </p:nvSpPr>
        <p:spPr>
          <a:xfrm>
            <a:off x="4526280" y="5029200"/>
            <a:ext cx="7635240" cy="155448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sp>
        <p:nvSpPr>
          <p:cNvPr id="56" name="Text 49"/>
          <p:cNvSpPr/>
          <p:nvPr/>
        </p:nvSpPr>
        <p:spPr>
          <a:xfrm>
            <a:off x="4800600" y="5230368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POC USES THEM</a:t>
            </a:r>
            <a:endParaRPr lang="en-US" sz="1200" dirty="0"/>
          </a:p>
        </p:txBody>
      </p:sp>
      <p:sp>
        <p:nvSpPr>
          <p:cNvPr id="57" name="Text 50"/>
          <p:cNvSpPr/>
          <p:nvPr/>
        </p:nvSpPr>
        <p:spPr>
          <a:xfrm>
            <a:off x="4800600" y="5532120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Single-turn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→ PromptSending + persuasion/encoding converters, best-of-n.    </a:t>
            </a:r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Multi-turn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Crescendo / RedTeaming / TAP driven by the Dolphin attacker LLM.</a:t>
            </a:r>
            <a:endParaRPr lang="en-US" sz="1250" dirty="0"/>
          </a:p>
        </p:txBody>
      </p:sp>
      <p:sp>
        <p:nvSpPr>
          <p:cNvPr id="58" name="Text 51"/>
          <p:cNvSpPr/>
          <p:nvPr/>
        </p:nvSpPr>
        <p:spPr>
          <a:xfrm>
            <a:off x="4800600" y="6016752"/>
            <a:ext cx="708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Config objects (0.14.x):  </a:t>
            </a:r>
            <a:pPr indent="0" marL="0">
              <a:buNone/>
            </a:pPr>
            <a:r>
              <a:rPr lang="en-US" sz="1050" dirty="0">
                <a:solidFill>
                  <a:srgbClr val="5A65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AttackAdversarialConfig(target=…) · AttackScoringConfig(objective_scorer=…) · AttackConverterConfig(request_converters=[…])</a:t>
            </a:r>
            <a:endParaRPr lang="en-US" sz="1050" dirty="0"/>
          </a:p>
        </p:txBody>
      </p:sp>
      <p:sp>
        <p:nvSpPr>
          <p:cNvPr id="59" name="Text 52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60" name="Text 53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PROMPT-CRAFTING · OPTIONAL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Persuasion angles for single-turn, PyRIT-native for multi-turn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115568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691640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Angle = HOW you ask (rhetoric, stored as metadata).   </a:t>
            </a:r>
            <a:pPr indent="0" marL="0">
              <a:buNone/>
            </a:pPr>
            <a:r>
              <a:rPr lang="en-US" sz="14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= WHAT counts as success (behavior-defined, rhetoric-free, gradeable).   Never blend the two.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971800"/>
            <a:ext cx="566928" cy="566928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" y="311353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21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— PAP angles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1554480" y="3264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Zeng et al., ACL 2024 · 40 techniques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363016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as rhetorical framing at craft time — the objective underneath stays identical.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22960" y="4251960"/>
            <a:ext cx="146486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425196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2452421" y="4251960"/>
            <a:ext cx="1464869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452421" y="4251960"/>
            <a:ext cx="146486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Appeal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22960" y="4709160"/>
            <a:ext cx="180502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" y="4709160"/>
            <a:ext cx="1805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Endorsement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2792578" y="4709160"/>
            <a:ext cx="1039673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92578" y="4709160"/>
            <a:ext cx="103967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996842" y="4709160"/>
            <a:ext cx="129479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996842" y="4709160"/>
            <a:ext cx="129479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822960" y="5166360"/>
            <a:ext cx="1634947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9E2B25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22960" y="5166360"/>
            <a:ext cx="16349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Foot-in-the-door</a:t>
            </a:r>
            <a:endParaRPr lang="en-US" sz="1150" dirty="0"/>
          </a:p>
        </p:txBody>
      </p:sp>
      <p:sp>
        <p:nvSpPr>
          <p:cNvPr id="25" name="Text 21"/>
          <p:cNvSpPr/>
          <p:nvPr/>
        </p:nvSpPr>
        <p:spPr>
          <a:xfrm>
            <a:off x="82296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31 ethical angles default · </a:t>
            </a:r>
            <a:pPr indent="0" marL="0">
              <a:buNone/>
            </a:pPr>
            <a:r>
              <a:rPr lang="en-US" sz="1150" b="1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unethical gated behind an explicit flag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172200" y="2697480"/>
            <a:ext cx="548640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492240" y="2971800"/>
            <a:ext cx="566928" cy="566928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3113532"/>
            <a:ext cx="283464" cy="28346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7223760" y="299008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— PyRIT native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7223760" y="3264408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LLM improvises framing per turn</a:t>
            </a:r>
            <a:endParaRPr lang="en-US" sz="110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3785616"/>
            <a:ext cx="219456" cy="21945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85432" y="372160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Crescendo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escalates over benign turns, backtracks when resisted</a:t>
            </a:r>
            <a:endParaRPr lang="en-US" sz="12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4288536"/>
            <a:ext cx="219456" cy="21945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6885432" y="42245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TAP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branches, explores, prunes weak paths</a:t>
            </a:r>
            <a:endParaRPr lang="en-US" sz="125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791456"/>
            <a:ext cx="219456" cy="21945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85432" y="4727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 xml:space="preserve">RedTeaming  </a:t>
            </a:r>
            <a:pPr indent="0" marL="0"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steers each turn toward the objective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6492240" y="4526280"/>
            <a:ext cx="4846320" cy="713232"/>
          </a:xfrm>
          <a:prstGeom prst="roundRect">
            <a:avLst>
              <a:gd name="adj" fmla="val 11538"/>
            </a:avLst>
          </a:prstGeom>
          <a:solidFill>
            <a:srgbClr val="F5F7FA"/>
          </a:solidFill>
          <a:ln w="12700">
            <a:solidFill>
              <a:srgbClr val="E4E8EF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6720840" y="4526280"/>
            <a:ext cx="4480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static angle library needed — </a:t>
            </a:r>
            <a:pPr indent="0" marL="0">
              <a:buNone/>
            </a:pPr>
            <a:r>
              <a:rPr lang="en-US" sz="11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generates framing dynamically, so persuasion is emergent, not enumerated.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E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POC PROVES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Adaptive + trace-grounded = findings static probes can't reach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2185416"/>
            <a:ext cx="640080" cy="640080"/>
          </a:xfrm>
          <a:prstGeom prst="ellipse">
            <a:avLst/>
          </a:prstGeom>
          <a:solidFill>
            <a:srgbClr val="9E2B25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548" y="2345436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67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behavior, not prose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45920" y="25877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come from tool calls &amp; side effects in the trace — the agent-layer truth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47688" y="2185416"/>
            <a:ext cx="640080" cy="640080"/>
          </a:xfrm>
          <a:prstGeom prst="ellipse">
            <a:avLst/>
          </a:prstGeom>
          <a:solidFill>
            <a:srgbClr val="2A3550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7708" y="2345436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1671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agentic failure classes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98080" y="25877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authorization, tool misuse, goal hijack, multi-turn escalation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02920" y="37033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 w="12700">
            <a:solidFill>
              <a:srgbClr val="E4E8EF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" y="4014216"/>
            <a:ext cx="640080" cy="640080"/>
          </a:xfrm>
          <a:prstGeom prst="ellipse">
            <a:avLst/>
          </a:prstGeom>
          <a:solidFill>
            <a:srgbClr val="2C8A86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48" y="4174236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9959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taxonomy traceability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45920" y="44165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maps Promptfoo → PyRIT scorer, reproducibly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55080" y="3703320"/>
            <a:ext cx="5303520" cy="1600200"/>
          </a:xfrm>
          <a:prstGeom prst="roundRect">
            <a:avLst>
              <a:gd name="adj" fmla="val 5143"/>
            </a:avLst>
          </a:prstGeom>
          <a:solidFill>
            <a:srgbClr val="F6E9E7"/>
          </a:solidFill>
          <a:ln w="15875">
            <a:solidFill>
              <a:srgbClr val="9E2B25"/>
            </a:solidFill>
            <a:prstDash val="solid"/>
          </a:ln>
          <a:effectLst>
            <a:outerShdw sx="100000" sy="100000" kx="0" ky="0" algn="bl" rotWithShape="0" blurRad="101600" dist="25400" dir="5400000">
              <a:srgbClr val="9AA4B8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47688" y="4014216"/>
            <a:ext cx="640080" cy="640080"/>
          </a:xfrm>
          <a:prstGeom prst="ellipse">
            <a:avLst/>
          </a:prstGeom>
          <a:solidFill>
            <a:srgbClr val="C6892E"/>
          </a:solidFill>
          <a:ln/>
          <a:effectLst>
            <a:outerShdw sx="100000" sy="100000" kx="0" ky="0" algn="bl" rotWithShape="0" blurRad="63500" dist="25400" dir="5400000">
              <a:srgbClr val="9AA4B8">
                <a:alpha val="28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417423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99592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Data-sovereign by design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98080" y="4416552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attacker, grader, corpus and traces stay in-house / air-gapped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5669280"/>
            <a:ext cx="11155680" cy="658368"/>
          </a:xfrm>
          <a:prstGeom prst="roundRect">
            <a:avLst>
              <a:gd name="adj" fmla="val 12500"/>
            </a:avLst>
          </a:prstGeom>
          <a:solidFill>
            <a:srgbClr val="2A3550"/>
          </a:solidFill>
          <a:ln w="12700">
            <a:solidFill>
              <a:srgbClr val="2A3550"/>
            </a:solidFill>
            <a:prstDash val="solid"/>
          </a:ln>
          <a:effectLst>
            <a:outerShdw sx="100000" sy="100000" kx="0" ky="0" algn="bl" rotWithShape="0" blurRad="101600" dist="25400" dir="16200000">
              <a:srgbClr val="9AA4B8">
                <a:alpha val="2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22960" y="566928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C9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Next  </a:t>
            </a:r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same harness becomes a CI-integrated regression gate across any agent the bank deploys.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38428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Red-Teaming · Agentic 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Adaptive Red-Teaming for Agentic AI</dc:title>
  <dc:subject>PptxGenJS Presentation</dc:subject>
  <dc:creator>AI Security — DBS</dc:creator>
  <cp:lastModifiedBy>AI Security — DBS</cp:lastModifiedBy>
  <cp:revision>1</cp:revision>
  <dcterms:created xsi:type="dcterms:W3CDTF">2026-07-09T06:16:43Z</dcterms:created>
  <dcterms:modified xsi:type="dcterms:W3CDTF">2026-07-09T06:16:43Z</dcterms:modified>
</cp:coreProperties>
</file>